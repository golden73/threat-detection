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365760">
            <a:no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/>
              </a:rPr>
              <a:t>AI-Assisted Threat Detection &amp; Response System</a:t>
            </a:r>
          </a:p>
          <a:p>
            <a:r>
              <a:rPr sz="1250" b="0" i="1">
                <a:solidFill>
                  <a:srgbClr val="CFE8D8"/>
                </a:solidFill>
                <a:latin typeface="Calibri"/>
              </a:rPr>
              <a:t>Log-based detection, correlation, and AI SOC assistant mapped to MITRE ATT&amp;CK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Presenter: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[Your Name]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Date: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2026-10-11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Context: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Resource-constrained environments (Lusaka, Zambia)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Dataset: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CICIDS2017 (Tuesday/Friday captures, 957K flows)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365760">
            <a:no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Small IT teams in emerging regions face asymmetric threats: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Limited security staff, budget, and tooling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No dedicated SOC, no 24/7 monitoring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Commercial SIEM/EDR often unaffordable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ISP is the primary upstream defense for DDoS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Our approach: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ML-based network flow detection (free/open-source stack)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Alert correlation → incident timeline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MITRE ATT&amp;CK mapping for shared language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AI-assisted analyst reports (offline KB mode)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Deployable on commodity hardware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365760">
            <a:no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System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" y="1371600"/>
            <a:ext cx="10058400" cy="3200400"/>
          </a:xfrm>
          <a:prstGeom prst="roundRect">
            <a:avLst/>
          </a:prstGeom>
          <a:solidFill>
            <a:srgbClr val="F4F6F8"/>
          </a:solidFill>
          <a:ln>
            <a:solidFill>
              <a:srgbClr val="889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l"/>
            <a:r>
              <a:rPr sz="1000" b="0" i="0">
                <a:solidFill>
                  <a:srgbClr val="1C2733"/>
                </a:solidFill>
                <a:latin typeface="Consolas"/>
              </a:rPr>
              <a:t>┌─────────────┐     ┌──────────────┐     ┌─────────────┐     ┌──────────────┐</a:t>
            </a:r>
          </a:p>
          <a:p>
            <a:pPr algn="l"/>
            <a:r>
              <a:rPr sz="1000" b="0" i="0">
                <a:solidFill>
                  <a:srgbClr val="1C2733"/>
                </a:solidFill>
                <a:latin typeface="Consolas"/>
              </a:rPr>
              <a:t>│  CICIDS2017 │────▶│  step1: Load │────▶│  step2: XGB │────▶│  step3: Corr │</a:t>
            </a:r>
          </a:p>
          <a:p>
            <a:pPr algn="l"/>
            <a:r>
              <a:rPr sz="1000" b="0" i="0">
                <a:solidFill>
                  <a:srgbClr val="1C2733"/>
                </a:solidFill>
                <a:latin typeface="Consolas"/>
              </a:rPr>
              <a:t>│   CSV files │     │   &amp; Clean    │     │  Baseline   │     │  Alerts→Inc  │</a:t>
            </a:r>
          </a:p>
          <a:p>
            <a:pPr algn="l"/>
            <a:r>
              <a:rPr sz="1000" b="0" i="0">
                <a:solidFill>
                  <a:srgbClr val="1C2733"/>
                </a:solidFill>
                <a:latin typeface="Consolas"/>
              </a:rPr>
              <a:t>└─────────────┘     └──────────────┘     └─────────────┘     └──────┬───────┘</a:t>
            </a:r>
          </a:p>
          <a:p>
            <a:pPr algn="l"/>
            <a:r>
              <a:rPr sz="1000" b="0" i="0">
                <a:solidFill>
                  <a:srgbClr val="1C2733"/>
                </a:solidFill>
                <a:latin typeface="Consolas"/>
              </a:rPr>
              <a:t>                                                                    │</a:t>
            </a:r>
          </a:p>
          <a:p>
            <a:pPr algn="l"/>
            <a:r>
              <a:rPr sz="1000" b="0" i="0">
                <a:solidFill>
                  <a:srgbClr val="1C2733"/>
                </a:solidFill>
                <a:latin typeface="Consolas"/>
              </a:rPr>
              <a:t>┌─────────────┐     ┌──────────────┐     ┌─────────────┐            │</a:t>
            </a:r>
          </a:p>
          <a:p>
            <a:pPr algn="l"/>
            <a:r>
              <a:rPr sz="1000" b="0" i="0">
                <a:solidFill>
                  <a:srgbClr val="1C2733"/>
                </a:solidFill>
                <a:latin typeface="Consolas"/>
              </a:rPr>
              <a:t>│  step6: Demo│◀────│ step5: Hard  │◀────│ step4: AI   │◀───────────┘</a:t>
            </a:r>
          </a:p>
          <a:p>
            <a:pPr algn="l"/>
            <a:r>
              <a:rPr sz="1000" b="0" i="0">
                <a:solidFill>
                  <a:srgbClr val="1C2733"/>
                </a:solidFill>
                <a:latin typeface="Consolas"/>
              </a:rPr>
              <a:t>│   Page      │     │   Eval       │     │  Assistant  │</a:t>
            </a:r>
          </a:p>
          <a:p>
            <a:pPr algn="l"/>
            <a:r>
              <a:rPr sz="1000" b="0" i="0">
                <a:solidFill>
                  <a:srgbClr val="1C2733"/>
                </a:solidFill>
                <a:latin typeface="Consolas"/>
              </a:rPr>
              <a:t>└─────────────┘     └──────────────┘     └─────────────┘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4754880"/>
            <a:ext cx="10058400" cy="1463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6 pipeline steps, all offline-capable, reproducible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365760">
            <a:no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Data: CICIDS2017 Subset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640080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After cleaning: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957,445 rows, 80 features, 0 duplicates, 0 NaN/Inf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Classes: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BENIGN (656,784), PortScan (158,804), DDoS (128,025), FTP-Patator (7,935), SSH-Patator (5,897)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Features used: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78 numeric flow features (protocol, durations, packet counts, byte counts, IAT stats, flags, window sizes...)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Excluded: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Flow ID, IPs, Ports, Timestamp, Label, is_attack, </a:t>
            </a:r>
            <a:r>
              <a:rPr sz="1400" b="1" i="0">
                <a:solidFill>
                  <a:srgbClr val="1C2733"/>
                </a:solidFill>
                <a:latin typeface="Calibri"/>
              </a:rPr>
              <a:t>Destination Port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(leaks label)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0" y="1325880"/>
          <a:ext cx="47548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29718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Capture File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Flows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Attack Types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Tuesday-WorkingHours.pcap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445,641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BENIGN, FTP-Patator, SSH-Patator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Friday-Afternoon-PortScan.pcap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286,095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BENIGN, PortScan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Friday-Afternoon-DDoS.pcap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225,709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BENIGN, DDoS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365760">
            <a:no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Model: XGBoost Multi-class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640080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Why XGBoost?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Handles tabular flow data natively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Fast training/inference on CPU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Built-in handling of class imbalance (via downsampling)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Feature importance for interpretability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No GPU required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0" y="1325880"/>
          <a:ext cx="4754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28575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XGBoost (tree_method=hist)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multi:softprob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Estimators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Max Depth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Benign Train Cap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150,000 (downsampled)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Evaluation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Stratified 2-fold out-of-fold (all flows)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365760">
            <a:no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/>
              </a:rPr>
              <a:t>Results: With vs Without Destination 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640080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Key insight: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Destination Port leaks attack type in CICIDS2017 (21→FTP, 22→SSH, 80→DDoS).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1C2733"/>
                </a:solidFill>
                <a:latin typeface="Calibri"/>
              </a:rPr>
              <a:t>Our production model </a:t>
            </a:r>
            <a:r>
              <a:rPr sz="1400" b="1" i="0">
                <a:solidFill>
                  <a:srgbClr val="1C2733"/>
                </a:solidFill>
                <a:latin typeface="Calibri"/>
              </a:rPr>
              <a:t>excludes it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— the 0.99987 F1 is honest for this dataset.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0" y="1325880"/>
          <a:ext cx="4754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2895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Without Port (78 feat)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With Port (79 feat)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0.99987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0.99989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+0.002%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0.99988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0.99991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+0.003%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0.99987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0.99990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+0.002%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FPR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6.09×10⁻⁵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5.18×10⁻⁵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-15%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TP / FP / FN / TN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300,625 / 40 / 36 / 656,744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300,634 / 34 / 27 / 656,750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365760">
            <a:no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Hard Evaluation: Beyond Random 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640080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 i="0">
                <a:solidFill>
                  <a:srgbClr val="0F5132"/>
                </a:solidFill>
                <a:latin typeface="Calibri"/>
              </a:rPr>
              <a:t>A) Chronological Split (Train Early, Test Late)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1C2733"/>
                </a:solidFill>
                <a:latin typeface="Calibri"/>
              </a:rPr>
              <a:t>Per-attack recall (all </a:t>
            </a:r>
            <a:r>
              <a:rPr sz="1400" b="1" i="0">
                <a:solidFill>
                  <a:srgbClr val="1C2733"/>
                </a:solidFill>
                <a:latin typeface="Calibri"/>
              </a:rPr>
              <a:t>also in training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):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DDoS: 0.9987 | PortScan: 0.9971 | SSH-Patator: 0.9840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 i="0">
                <a:solidFill>
                  <a:srgbClr val="0F5132"/>
                </a:solidFill>
                <a:latin typeface="Calibri"/>
              </a:rPr>
              <a:t>B) Leave-One-Attack-Out (Zero-shot on Unseen Attack)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 i="0">
                <a:solidFill>
                  <a:srgbClr val="0F5132"/>
                </a:solidFill>
                <a:latin typeface="Calibri"/>
              </a:rPr>
              <a:t>C) Cross-Capture (Train on N-1 Days, Test on Held-out Day)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Conclusion: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Supervised model excels on known attacks, fails on novel/unseen types.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Future work: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Add anomaly detection layer for zero-day coverage.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0" y="1325880"/>
          <a:ext cx="4754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292608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0.9995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0.9970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0.9982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FPR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1.08×10⁻⁴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40880" y="2971800"/>
          <a:ext cx="4754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292608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Held-out Attack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Unseen Recall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Benign FPR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DDoS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0.4496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4.1×10⁻⁵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FTP-Patator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0.0745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6.1×10⁻⁵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PortScan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0.0004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4.6×10⁻⁵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SSH-Patator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0.0027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6.6×10⁻⁵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40880" y="4617720"/>
          <a:ext cx="4754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Held-out Capture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Attack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Flag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Friday-DDoS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DDoS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0.0025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NOT TESTED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Friday-PortScan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PortScan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0.0004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NOT TESTED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Tuesday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FTP-Patator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0.0741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NOT TESTED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Tuesday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SSH-Patator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0.0029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NOT TESTED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365760">
            <a:no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Alert Correlation &amp; MITRE ATT&amp;CK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640080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Alert thresholds: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min confidence 0.90, alert gap 30min, incident gap 60min, min flows 5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7 alerts → 5 incidents: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INC-003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shows realistic progression: Reconnaissance → Impact (multi-tactic = CRITICAL)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0" y="1325880"/>
          <a:ext cx="4754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Attack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MITRE Technique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Tactic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PortScan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T1595</a:t>
                      </a:r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 Active Scanning (T1595.001 Scanning IP Blocks)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Reconnaissance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DDoS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T1498</a:t>
                      </a:r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 Network Denial of Service (T1498.001 Direct Network Flood)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FTP-Patator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T1110.001</a:t>
                      </a:r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 Brute Force: Password Guessing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Credential Access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SSH-Patator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T1110.001</a:t>
                      </a:r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 Brute Force: Password Guessing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Credential Access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40880" y="2971800"/>
          <a:ext cx="4754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28956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INC-001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172.16.0.1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FTP-Patator (T1110.001)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INC-002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172.16.0.1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SSH-Patator (T1110.001)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INC-003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172.16.0.1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PortScan (T1595) → DDoS (T1498)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INC-004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192.168.10.9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DDoS (T1498)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INC-005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192.168.10.5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DDoS (T1498)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365760">
            <a:no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Calibri"/>
              </a:rPr>
              <a:t>AI SOC Assistant (Offline Knowledge-Base Mode)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Two modes: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LLM (Anthropic Claude) / Offline KB (demo-safe, no API key)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Report sections for each incident: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Summary (what, when, tactics)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Timeline (per-alert with flow counts)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ATT&amp;CK mapping (technique IDs + meaning)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Likely attacker goal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Immediate actions (Lusaka-context: free tools, ISP contact)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Longer-term fixes (fail2ban, MFA, CDN, network segmentation)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Caveats (ML detection ≠ compromise; NAT/shared IPs)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Example (INC-003 CRITICAL):</a:t>
            </a:r>
          </a:p>
          <a:p>
            <a:pPr>
              <a:spcAft>
                <a:spcPts val="300"/>
              </a:spcAft>
            </a:pPr>
            <a:r>
              <a:rPr sz="1200" b="0" i="1">
                <a:solidFill>
                  <a:srgbClr val="0F5132"/>
                </a:solidFill>
                <a:latin typeface="Calibri"/>
              </a:rPr>
              <a:t>"Source 172.16.0.1 showed 3 detected activity bursts (286,793 flows) covering Reconnaissance → Impact. Multiple stages from one source suggest deliberate, staged attack."</a:t>
            </a:r>
          </a:p>
          <a:p>
            <a:pPr>
              <a:spcAft>
                <a:spcPts val="300"/>
              </a:spcAft>
            </a:pPr>
            <a:r>
              <a:rPr sz="1200" b="0" i="1">
                <a:solidFill>
                  <a:srgbClr val="0F5132"/>
                </a:solidFill>
                <a:latin typeface="Calibri"/>
              </a:rPr>
              <a:t>- Immediate: Block scanner at firewall, confirm service impact, contact ISP for flood</a:t>
            </a:r>
          </a:p>
          <a:p>
            <a:pPr>
              <a:spcAft>
                <a:spcPts val="300"/>
              </a:spcAft>
            </a:pPr>
            <a:r>
              <a:rPr sz="1200" b="0" i="1">
                <a:solidFill>
                  <a:srgbClr val="0F5132"/>
                </a:solidFill>
                <a:latin typeface="Calibri"/>
              </a:rPr>
              <a:t>- Long-term: Port-scan detection (Suricata), CDN/DDoS protection, DoS runbook with ISP contacts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365760">
            <a:no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6400800" cy="5029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 i="0">
                <a:solidFill>
                  <a:srgbClr val="0F5132"/>
                </a:solidFill>
                <a:latin typeface="Calibri"/>
              </a:rPr>
              <a:t>Current Limitations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 i="0">
                <a:solidFill>
                  <a:srgbClr val="0F5132"/>
                </a:solidFill>
                <a:latin typeface="Calibri"/>
              </a:rPr>
              <a:t>Future Work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C2733"/>
                </a:solidFill>
                <a:latin typeface="Calibri"/>
              </a:rPr>
              <a:t>Anomaly detection layer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 for unseen attack types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C2733"/>
                </a:solidFill>
                <a:latin typeface="Calibri"/>
              </a:rPr>
              <a:t>Live packet capture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 integration (Zeek, Suricata)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C2733"/>
                </a:solidFill>
                <a:latin typeface="Calibri"/>
              </a:rPr>
              <a:t>Distributed correlation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 across sensors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C2733"/>
                </a:solidFill>
                <a:latin typeface="Calibri"/>
              </a:rPr>
              <a:t>LLM-assisted triage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 with RAG on local KB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C2733"/>
                </a:solidFill>
                <a:latin typeface="Calibri"/>
              </a:rPr>
              <a:t>Automated response playbooks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 (block, rate-limit, alert)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C2733"/>
                </a:solidFill>
                <a:latin typeface="Calibri"/>
              </a:rPr>
              <a:t>Edge deployment</a:t>
            </a:r>
            <a:r>
              <a:rPr sz="1300" b="0" i="0">
                <a:solidFill>
                  <a:srgbClr val="1C2733"/>
                </a:solidFill>
                <a:latin typeface="Calibri"/>
              </a:rPr>
              <a:t> on Raspberry Pi / Jetson for Lusaka clinics/schools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040880" y="132588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28738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T="18288" marB="18288" marL="54864" marR="54864" anchor="ctr">
                    <a:solidFill>
                      <a:srgbClr val="0F5132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Supervised only</a:t>
                      </a:r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 — no zero-day detection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LOAO recall 0.04–45%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Add unsupervised anomaly layer (Isolation Forest, AE)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CICIDS2017 synthetic</a:t>
                      </a:r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 — not production traffic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Lab scores ≠ real-world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Validate on live Zeek/Suricata flows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Flow-level only</a:t>
                      </a:r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 — no payload/L7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Misses app-layer exploits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Integrate Zeek logs, TLS JA3 fingerprints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Single source IP correlation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Misses distributed/coordinated attacks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Graph-based correlation, multi-source fusion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  <a:tr h="287382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Binary benign cap</a:t>
                      </a:r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 — 150K train limit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May under-represent benign diversity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Stratified sampling, class-weighted loss</a:t>
                      </a:r>
                    </a:p>
                  </a:txBody>
                  <a:tcPr marT="18288" marB="18288" marL="54864" marR="54864" anchor="ctr">
                    <a:solidFill>
                      <a:srgbClr val="F6F9F7"/>
                    </a:solidFill>
                  </a:tcPr>
                </a:tc>
              </a:tr>
              <a:tr h="287388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C2733"/>
                          </a:solidFill>
                          <a:latin typeface="Calibri"/>
                        </a:rPr>
                        <a:t>No LLM eval</a:t>
                      </a:r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 — KB mode only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Can't measure hallucination rate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C2733"/>
                          </a:solidFill>
                          <a:latin typeface="Calibri"/>
                        </a:rPr>
                        <a:t>Run with API key when available</a:t>
                      </a:r>
                    </a:p>
                  </a:txBody>
                  <a:tcPr marT="18288" marB="18288"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365760">
            <a:no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Delivered: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End-to-end threat detection pipeline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✅ Data cleaning → ML detection → Alert correlation → ATT&amp;CK mapping → AI reports → Demo page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✅ Honest evaluation: chronological, leave-one-attack-out, cross-capture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✅ MITRE ATT&amp;CK mappings aligned with attack.mitre.org (T1595, T1498, T1110.001)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✅ Offline-capable, free/open-source stack, Lusaka-contextualized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Key results: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Baseline F1 0.9999 on known attacks (port excluded)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Hard eval reveals generalization gap (LOAO 0.04–45%)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Clear attack progression detected: PortScan → DDoS (INC-003 CRITICAL)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5 analyst-ready reports with immediate/long-term actions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Ready for: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Demo, pilot deployment, extension with anomaly detection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Repository: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All code, data, models, outputs in this project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Run: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`python step1_load_clean.py ... &amp;&amp; python step2_baseline.py ... &amp;&amp; python step3_alerts.py ... &amp;&amp; python step4_assistant.py ... &amp;&amp; python step5_hard_eval.py ... &amp;&amp; python step6_demo_page.py`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365760">
            <a:no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Calibri"/>
              </a:rPr>
              <a:t>Thank You /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Backup slides: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Detailed metrics, confusion matrices, demo script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Likely questions prepared: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Why XGBoost over Snort/Suricata?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Lusaka context: budget, ISP, ZM-CIRT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NAT/shared IP attribution caveats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LLM reliability / hallucination risk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Deployment architecture (edge vs cloud)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Unseen attack generalization</a:t>
            </a:r>
          </a:p>
          <a:p>
            <a:pPr>
              <a:spcAft>
                <a:spcPts val="500"/>
              </a:spcAft>
            </a:pPr>
            <a:r>
              <a:rPr sz="1300" b="0" i="0">
                <a:solidFill>
                  <a:srgbClr val="1C2733"/>
                </a:solidFill>
                <a:latin typeface="Calibri"/>
              </a:rPr>
              <a:t>•  Scores: baseline vs honest evaluation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1C2733"/>
                </a:solidFill>
                <a:latin typeface="Calibri"/>
              </a:rPr>
              <a:t>Contact:</a:t>
            </a:r>
            <a:r>
              <a:rPr sz="1400" b="0" i="0">
                <a:solidFill>
                  <a:srgbClr val="1C2733"/>
                </a:solidFill>
                <a:latin typeface="Calibri"/>
              </a:rPr>
              <a:t> [Your details]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